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  <p:embeddedFont>
      <p:font typeface="Inter SemiBold"/>
      <p:regular r:id="rId201316"/>
    </p:embeddedFont>
    <p:embeddedFont>
      <p:font typeface="Inter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397000"/>
            <a:ext cx="6349841" cy="4064000"/>
          </a:xfrm>
          <a:prstGeom prst="roundRect">
            <a:avLst>
              <a:gd name="adj" fmla="val 5250"/>
            </a:avLst>
          </a:prstGeom>
          <a:solidFill>
            <a:srgbClr val="127A53"/>
          </a:solidFill>
          <a:ln/>
        </p:spPr>
      </p:sp>
      <p:sp>
        <p:nvSpPr>
          <p:cNvPr id="3" name="Text 1"/>
          <p:cNvSpPr/>
          <p:nvPr/>
        </p:nvSpPr>
        <p:spPr>
          <a:xfrm>
            <a:off x="939776" y="1676400"/>
            <a:ext cx="629904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EXECUTIVE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39776" y="1978620"/>
            <a:ext cx="568945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120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USA Regional</a:t>
            </a:r>
            <a:endParaRPr lang="en-US" sz="4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4000" spc="-120" kern="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Sales Analysis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39776" y="3243858"/>
            <a:ext cx="126898" cy="31651"/>
          </a:xfrm>
          <a:prstGeom prst="roundRect">
            <a:avLst>
              <a:gd name="adj" fmla="val 49998"/>
            </a:avLst>
          </a:prstGeom>
          <a:solidFill>
            <a:srgbClr val="1C9768"/>
          </a:solidFill>
          <a:ln/>
        </p:spPr>
      </p:sp>
      <p:sp>
        <p:nvSpPr>
          <p:cNvPr id="6" name="Text 4"/>
          <p:cNvSpPr/>
          <p:nvPr/>
        </p:nvSpPr>
        <p:spPr>
          <a:xfrm>
            <a:off x="939776" y="3505795"/>
            <a:ext cx="6299042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2014 to 2018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51707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BUSINESS SNAPSHOT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2053927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$1.24B in revenue at a 37.4% margin, and no growth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585" y="2708473"/>
            <a:ext cx="3454314" cy="1988641"/>
          </a:xfrm>
          <a:prstGeom prst="roundRect">
            <a:avLst>
              <a:gd name="adj" fmla="val 10729"/>
            </a:avLst>
          </a:prstGeom>
          <a:solidFill>
            <a:srgbClr val="EEF7F2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937073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$1.24B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38179" y="3794323"/>
            <a:ext cx="322571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38179" y="4114602"/>
            <a:ext cx="2846118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0" name="Text 8"/>
          <p:cNvSpPr/>
          <p:nvPr/>
        </p:nvSpPr>
        <p:spPr>
          <a:xfrm>
            <a:off x="967656" y="4179292"/>
            <a:ext cx="309624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January 2014 to February 2018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68691" y="2708473"/>
            <a:ext cx="3454314" cy="1988641"/>
          </a:xfrm>
          <a:prstGeom prst="roundRect">
            <a:avLst>
              <a:gd name="adj" fmla="val 10729"/>
            </a:avLst>
          </a:prstGeom>
          <a:solidFill>
            <a:srgbClr val="EEF7F2"/>
          </a:solidFill>
          <a:ln/>
        </p:spPr>
      </p:sp>
      <p:sp>
        <p:nvSpPr>
          <p:cNvPr id="12" name="Text 10"/>
          <p:cNvSpPr/>
          <p:nvPr/>
        </p:nvSpPr>
        <p:spPr>
          <a:xfrm>
            <a:off x="4597285" y="2937073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$461.8M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97285" y="3794323"/>
            <a:ext cx="322571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Profit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97285" y="4114602"/>
            <a:ext cx="1411748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5" name="Text 13"/>
          <p:cNvSpPr/>
          <p:nvPr/>
        </p:nvSpPr>
        <p:spPr>
          <a:xfrm>
            <a:off x="4726762" y="4179292"/>
            <a:ext cx="176237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37.4% margin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27797" y="2708473"/>
            <a:ext cx="3454314" cy="1988641"/>
          </a:xfrm>
          <a:prstGeom prst="roundRect">
            <a:avLst>
              <a:gd name="adj" fmla="val 10729"/>
            </a:avLst>
          </a:prstGeom>
          <a:solidFill>
            <a:srgbClr val="EEF7F2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391" y="2937073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10,684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356391" y="3794323"/>
            <a:ext cx="322571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Orders across 175 customers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56391" y="4114602"/>
            <a:ext cx="1748191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20" name="Text 18"/>
          <p:cNvSpPr/>
          <p:nvPr/>
        </p:nvSpPr>
        <p:spPr>
          <a:xfrm>
            <a:off x="8485868" y="4179292"/>
            <a:ext cx="209882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64,104 order lines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585" y="4874915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30 products sold across 47 states and DC. Revenue is substantial, but the growth engine has stalled.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365720" y="6583859"/>
            <a:ext cx="82597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85379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ANNUAL PERFORMANCE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587599"/>
            <a:ext cx="10972526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 mature business:</a:t>
            </a:r>
            <a:endParaRPr lang="en-US" sz="7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$294–298M a year</a:t>
            </a:r>
            <a:endParaRPr lang="en-US" sz="7600" dirty="0"/>
          </a:p>
        </p:txBody>
      </p:sp>
      <p:sp>
        <p:nvSpPr>
          <p:cNvPr id="6" name="Shape 4"/>
          <p:cNvSpPr/>
          <p:nvPr/>
        </p:nvSpPr>
        <p:spPr>
          <a:xfrm>
            <a:off x="609585" y="3840559"/>
            <a:ext cx="126898" cy="31651"/>
          </a:xfrm>
          <a:prstGeom prst="roundRect">
            <a:avLst>
              <a:gd name="adj" fmla="val 49998"/>
            </a:avLst>
          </a:prstGeom>
          <a:solidFill>
            <a:srgbClr val="1C976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261247"/>
            <a:ext cx="10972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Annual revenue is flat from 2014 to 2017.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4734322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2018 covers only January and February, so it is excluded from year-over-year comparison.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5218609"/>
            <a:ext cx="3583394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0" name="Text 8"/>
          <p:cNvSpPr/>
          <p:nvPr/>
        </p:nvSpPr>
        <p:spPr>
          <a:xfrm>
            <a:off x="739062" y="5283299"/>
            <a:ext cx="393402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growth across the comparable years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363934" y="6583859"/>
            <a:ext cx="82776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1992213"/>
            <a:ext cx="619744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SEASONALITY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1182" y="2294434"/>
            <a:ext cx="5841854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Q1 is the peak: January alone brings about $124M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11182" y="3459063"/>
            <a:ext cx="126898" cy="31651"/>
          </a:xfrm>
          <a:prstGeom prst="roundRect">
            <a:avLst>
              <a:gd name="adj" fmla="val 49998"/>
            </a:avLst>
          </a:prstGeom>
          <a:solidFill>
            <a:srgbClr val="1C9768"/>
          </a:solidFill>
          <a:ln/>
        </p:spPr>
      </p:sp>
      <p:sp>
        <p:nvSpPr>
          <p:cNvPr id="7" name="Text 5"/>
          <p:cNvSpPr/>
          <p:nvPr/>
        </p:nvSpPr>
        <p:spPr>
          <a:xfrm>
            <a:off x="711182" y="3721001"/>
            <a:ext cx="5841854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February follows at about </a:t>
            </a:r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$115M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The rest of the year settles at </a:t>
            </a:r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$95–102M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 month.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1182" y="4511774"/>
            <a:ext cx="3385954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9" name="Text 7"/>
          <p:cNvSpPr/>
          <p:nvPr/>
        </p:nvSpPr>
        <p:spPr>
          <a:xfrm>
            <a:off x="840659" y="4576465"/>
            <a:ext cx="373658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Plan capacity for the first two months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304800"/>
            <a:ext cx="5283068" cy="6248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358874" y="6583859"/>
            <a:ext cx="83282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California delivers 18.5% of revenue, twice any other state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70621"/>
            <a:ext cx="7111822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26199" y="2026642"/>
            <a:ext cx="3555911" cy="3916958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/>
        </p:spPr>
      </p:sp>
      <p:sp>
        <p:nvSpPr>
          <p:cNvPr id="7" name="Text 4"/>
          <p:cNvSpPr/>
          <p:nvPr/>
        </p:nvSpPr>
        <p:spPr>
          <a:xfrm>
            <a:off x="8254793" y="2255242"/>
            <a:ext cx="3098722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18.5%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254793" y="3112492"/>
            <a:ext cx="3098722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 total revenue comes from California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54793" y="4809430"/>
            <a:ext cx="1734201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0" name="Text 7"/>
          <p:cNvSpPr/>
          <p:nvPr/>
        </p:nvSpPr>
        <p:spPr>
          <a:xfrm>
            <a:off x="8384271" y="4874121"/>
            <a:ext cx="2084831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$228.8M revenue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54793" y="5252244"/>
            <a:ext cx="3098722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Florida, Texas and New York complete the top five.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368002" y="6583859"/>
            <a:ext cx="8236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West leads, but margins barely differ by region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41723"/>
            <a:ext cx="7111822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26199" y="1568946"/>
            <a:ext cx="3555911" cy="4374654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/>
        </p:spPr>
      </p:sp>
      <p:sp>
        <p:nvSpPr>
          <p:cNvPr id="7" name="Text 4"/>
          <p:cNvSpPr/>
          <p:nvPr/>
        </p:nvSpPr>
        <p:spPr>
          <a:xfrm>
            <a:off x="8254793" y="1797546"/>
            <a:ext cx="3098722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37.1–37.5%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254793" y="3315196"/>
            <a:ext cx="3327317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Regional margin range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54793" y="5136555"/>
            <a:ext cx="3098722" cy="578445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0" name="Text 7"/>
          <p:cNvSpPr/>
          <p:nvPr/>
        </p:nvSpPr>
        <p:spPr>
          <a:xfrm>
            <a:off x="8384271" y="5201245"/>
            <a:ext cx="2839768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Demand differs more than profitability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Wholesale drives more than half of sales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42703"/>
            <a:ext cx="6045049" cy="36270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59327" y="1568946"/>
            <a:ext cx="4622784" cy="4374654"/>
          </a:xfrm>
          <a:prstGeom prst="roundRect">
            <a:avLst>
              <a:gd name="adj" fmla="val 4877"/>
            </a:avLst>
          </a:prstGeom>
          <a:solidFill>
            <a:srgbClr val="EEF7F2"/>
          </a:solidFill>
          <a:ln/>
        </p:spPr>
      </p:sp>
      <p:sp>
        <p:nvSpPr>
          <p:cNvPr id="7" name="Text 4"/>
          <p:cNvSpPr/>
          <p:nvPr/>
        </p:nvSpPr>
        <p:spPr>
          <a:xfrm>
            <a:off x="7187921" y="1797546"/>
            <a:ext cx="416559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5,766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187921" y="2654796"/>
            <a:ext cx="439418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Wholesale orders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87921" y="2975074"/>
            <a:ext cx="416559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Channel margins are near-identical at </a:t>
            </a:r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37.0% to 38.0%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with Export marginally highest.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187921" y="5361087"/>
            <a:ext cx="2729539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1" name="Text 8"/>
          <p:cNvSpPr/>
          <p:nvPr/>
        </p:nvSpPr>
        <p:spPr>
          <a:xfrm>
            <a:off x="7317398" y="5425777"/>
            <a:ext cx="3080169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Wholesale is the scale engine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376832" y="6583859"/>
            <a:ext cx="81486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PRODUCT AND ACCOUNT MIX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1662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Two products lead revenue; Product 9 leads margin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585" y="1871166"/>
            <a:ext cx="3454314" cy="3663255"/>
          </a:xfrm>
          <a:prstGeom prst="roundRect">
            <a:avLst>
              <a:gd name="adj" fmla="val 6176"/>
            </a:avLst>
          </a:prstGeom>
          <a:solidFill>
            <a:srgbClr val="EEF7F2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099766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$117M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38179" y="2849066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26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179" y="3388122"/>
            <a:ext cx="322571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Top revenue driver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8691" y="1871166"/>
            <a:ext cx="3454314" cy="3663255"/>
          </a:xfrm>
          <a:prstGeom prst="roundRect">
            <a:avLst>
              <a:gd name="adj" fmla="val 6176"/>
            </a:avLst>
          </a:prstGeom>
          <a:solidFill>
            <a:srgbClr val="EEF7F2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85" y="2099766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$109M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97285" y="2849066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25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97285" y="3388122"/>
            <a:ext cx="322571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Second revenue driver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7797" y="1871166"/>
            <a:ext cx="3454314" cy="3663255"/>
          </a:xfrm>
          <a:prstGeom prst="roundRect">
            <a:avLst>
              <a:gd name="adj" fmla="val 6176"/>
            </a:avLst>
          </a:prstGeom>
          <a:solidFill>
            <a:srgbClr val="EEF7F2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391" y="2099766"/>
            <a:ext cx="2997125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82" kern="100" dirty="0">
                <a:solidFill>
                  <a:srgbClr val="127A5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40.0%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356391" y="2849066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56391" y="3388122"/>
            <a:ext cx="2997125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Highest margin. Product 12 is lowest at 34.4%.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9585" y="5712222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spc="13" kern="100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Top accounts: Aibox Company $12.6M · State Ltd $12.2M · Pixoboo Corp $11.0M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67321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8" kern="10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PRICING DISCIPLINE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569541"/>
            <a:ext cx="10972526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Higher prices do not</a:t>
            </a:r>
            <a:endParaRPr lang="en-US" sz="7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600" spc="-22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mean higher margins.</a:t>
            </a:r>
            <a:endParaRPr lang="en-US" sz="7600" dirty="0"/>
          </a:p>
        </p:txBody>
      </p:sp>
      <p:sp>
        <p:nvSpPr>
          <p:cNvPr id="6" name="Shape 4"/>
          <p:cNvSpPr/>
          <p:nvPr/>
        </p:nvSpPr>
        <p:spPr>
          <a:xfrm>
            <a:off x="609585" y="3822502"/>
            <a:ext cx="126898" cy="31651"/>
          </a:xfrm>
          <a:prstGeom prst="roundRect">
            <a:avLst>
              <a:gd name="adj" fmla="val 49998"/>
            </a:avLst>
          </a:prstGeom>
          <a:solidFill>
            <a:srgbClr val="1C976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243189"/>
            <a:ext cx="10972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Unit price has no meaningful relationship with profit margin.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4716264"/>
            <a:ext cx="11582110" cy="342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Correlation: </a:t>
            </a:r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 ≈ −0.005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09585" y="5236666"/>
            <a:ext cx="3301818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0" name="Text 8"/>
          <p:cNvSpPr/>
          <p:nvPr/>
        </p:nvSpPr>
        <p:spPr>
          <a:xfrm>
            <a:off x="739062" y="5301357"/>
            <a:ext cx="365244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Price cannot stand in for profitability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4091480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Regional Sales Analysis, 2014 to 2018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711200"/>
            <a:ext cx="7137221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68" kern="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Five moves to grow beyond the plateau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1182" y="1823442"/>
            <a:ext cx="7137221" cy="234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Protect and grow California and the other leading states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 inventory and staffing for the January and February peak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Shift mix toward higher-margin products such as Product 9, and review Product 12's costs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 prices from product-level cost data, not assumed profitability</a:t>
            </a:r>
            <a:endParaRPr lang="en-US" sz="1700" dirty="0"/>
          </a:p>
          <a:p>
            <a:pPr algn="l" marL="345440" indent="-345440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Explore underpenetrated states and the Export channel for growth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304800"/>
            <a:ext cx="4063898" cy="6248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1400247" y="6583859"/>
            <a:ext cx="791448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2026-10-01T18:17:46Z</dcterms:created>
  <dcterms:modified xsi:type="dcterms:W3CDTF">2026-10-01T18:17:46Z</dcterms:modified>
</cp:coreProperties>
</file>